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1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BA8A6-67EC-0CB2-F437-2051FE9CE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5360C-E6A1-D966-EB68-64E1DCD72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2C227-957C-1B88-9B16-99D749BF1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8D4DE-691C-1247-BAC1-61C6B6856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96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5746-F97D-13B6-1BDF-8F29F2B70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9D5CA-2B11-533D-2691-36D32A4F6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2C1BE-46F6-BD6D-B51E-07CCA72F2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C7595-4EF8-17A1-C6A1-631A485F2F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38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CSP-Guard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Context-Aware Code Safety &amp; Copy-Paste Risk Analyzer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804672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94D2BD"/>
                </a:solidFill>
              </a:rPr>
              <a:t>PROJECT TEAM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4023360" cy="502920"/>
          </a:xfrm>
          <a:prstGeom prst="rect">
            <a:avLst/>
          </a:prstGeom>
          <a:solidFill>
            <a:srgbClr val="12263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4320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Keerthi Surya Teja</a:t>
            </a:r>
            <a:r>
              <a:rPr lang="en-US" sz="1100" dirty="0">
                <a:solidFill>
                  <a:srgbClr val="94D2BD"/>
                </a:solidFill>
              </a:rPr>
              <a:t>  •  2303A52007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4023360" cy="502920"/>
          </a:xfrm>
          <a:prstGeom prst="rect">
            <a:avLst/>
          </a:prstGeom>
          <a:solidFill>
            <a:srgbClr val="12263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33756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Bijjala Vrindha</a:t>
            </a:r>
            <a:r>
              <a:rPr lang="en-US" sz="1100" dirty="0">
                <a:solidFill>
                  <a:srgbClr val="94D2BD"/>
                </a:solidFill>
              </a:rPr>
              <a:t>  •  2303A52003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2697480"/>
            <a:ext cx="4023360" cy="502920"/>
          </a:xfrm>
          <a:prstGeom prst="rect">
            <a:avLst/>
          </a:prstGeom>
          <a:solidFill>
            <a:srgbClr val="12263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74320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Boga Siri Chandana</a:t>
            </a:r>
            <a:r>
              <a:rPr lang="en-US" sz="1100" dirty="0">
                <a:solidFill>
                  <a:srgbClr val="94D2BD"/>
                </a:solidFill>
              </a:rPr>
              <a:t>  •  2303A52004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3291840"/>
            <a:ext cx="4023360" cy="502920"/>
          </a:xfrm>
          <a:prstGeom prst="rect">
            <a:avLst/>
          </a:prstGeom>
          <a:solidFill>
            <a:srgbClr val="12263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3337560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Thakur Akshaya</a:t>
            </a:r>
            <a:r>
              <a:rPr lang="en-US" sz="1100" dirty="0">
                <a:solidFill>
                  <a:srgbClr val="94D2BD"/>
                </a:solidFill>
              </a:rPr>
              <a:t>  •  2303A52017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Ai Assisted Coding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is CSP-Guard?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794760" cy="2880360"/>
          </a:xfrm>
          <a:prstGeom prst="rect">
            <a:avLst/>
          </a:prstGeom>
          <a:noFill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</a:rPr>
              <a:t>CSP-Guard is an AI-powered security tool that automatically detects dangerous code reuse resulting from copy-paste actions in software development.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</a:rPr>
              <a:t>Unlike conventional clone detectors that rely only on syntactic similarity, CSP-Guard performs multi-dimensional analysis incorporating syntax, semantics, and security simultaneously.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</a:rPr>
              <a:t>The core innovation is the Execution Context Delta (ECD) model, which quantifies contextual divergence between source and destination code and converts it into an actionable risk score.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35570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8755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 It Solves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580"/>
                </a:solidFill>
              </a:rPr>
              <a:t>Context Inconsistency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719072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Incompatible variables &amp; scopes when code is lifted from one context to another.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2313432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580"/>
                </a:solidFill>
              </a:rPr>
              <a:t>Missing Error Handling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523744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Error-handling routines specific to original context are stripped out silently.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3118104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580"/>
                </a:solidFill>
              </a:rPr>
              <a:t>Security Weaknesses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3328416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Code injection and other vulnerabilities introduced through unchecked code reuse.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3922776"/>
            <a:ext cx="3749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580"/>
                </a:solidFill>
              </a:rPr>
              <a:t>Compliance Failures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4133088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Regulatory &amp; audit risks when security logic doesn't transfer with copied code.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CSP-Guard  |  SR University, Warangal  |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1170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0759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014984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Detect Copy-Paste Risks Automatically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Build an automated system that identifies potentially dangerous code reuse in real-time within the IDE and CI/CD pipelines.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502920" cy="1170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0759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014984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Introduce ECD — Execution Context Delta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1325880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Develop the first-of-its-kind metric that quantifies contextual divergence across variable scope, taint flow, exception handling, and resource usage.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58568"/>
            <a:ext cx="502920" cy="1170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060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313432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Multi-Dimensional Security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62432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Combine syntax (AST), semantics (data-flow), and security (vulnerability patterns) into a unified analysis pipeline.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258568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58568"/>
            <a:ext cx="502920" cy="1170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6060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313432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Probabilistic Risk Scoring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262432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Convert contextual differences into a composite risk score using a probabilistic formula: Risk = 1 − ∏(1 − wᵢ·δᵢ).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57016"/>
            <a:ext cx="502920" cy="1170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0448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361188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Minimize False Positives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3922776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Achieve a false positive rate below 3% — validated at 2.1% — to reduce developer alert fatigue and build trust.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557016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57016"/>
            <a:ext cx="502920" cy="1170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904488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61188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Support Multi-Language Environments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3922776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Provide language-specific models for Python, Java, and JavaScript with plans for further language expansion.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CSP-Guard  |  SR University, Warangal  |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68F21-55C2-2DC7-D6D4-1D655AA73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331347-FC28-12C5-ED53-B4599335829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D3BC5F-A91C-5D4B-9CBB-5EEDAA6E6B90}"/>
              </a:ext>
            </a:extLst>
          </p:cNvPr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ECD (Execution Context Delta)</a:t>
            </a:r>
            <a:endParaRPr lang="en-US" sz="2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64FFC0F-AB3E-C76E-330F-E0282280ED05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CSP-Guard  |  SR University, Warangal  |  2026</a:t>
            </a:r>
            <a:endParaRPr lang="en-US" sz="9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2B467B-1EF7-F6EC-987F-A937B31206E5}"/>
              </a:ext>
            </a:extLst>
          </p:cNvPr>
          <p:cNvSpPr txBox="1"/>
          <p:nvPr/>
        </p:nvSpPr>
        <p:spPr>
          <a:xfrm>
            <a:off x="113356" y="944080"/>
            <a:ext cx="63932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 (Vulnerabilities):</a:t>
            </a:r>
            <a:r>
              <a:rPr lang="en-US" dirty="0"/>
              <a:t> Detects known security flaws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 (Sources):</a:t>
            </a:r>
            <a:r>
              <a:rPr lang="en-US" dirty="0"/>
              <a:t> Identifies untrusted data inputs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 (Execution):</a:t>
            </a:r>
            <a:r>
              <a:rPr lang="en-US" dirty="0"/>
              <a:t> Checks risky operations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 (Trust):</a:t>
            </a:r>
            <a:r>
              <a:rPr lang="en-US" dirty="0"/>
              <a:t> Indicates safety level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 (Risk):</a:t>
            </a:r>
            <a:r>
              <a:rPr lang="en-US" dirty="0"/>
              <a:t> Final risk score 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79AC18F-52DC-4882-FABB-439D243C21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68" y="2508394"/>
            <a:ext cx="4193750" cy="233792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65BA8CF-ABB9-F1BB-932B-88B558B81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379" y="1335294"/>
            <a:ext cx="3102953" cy="338882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3CF44D7-9FB7-BCF9-4691-79ACFC5B748E}"/>
              </a:ext>
            </a:extLst>
          </p:cNvPr>
          <p:cNvSpPr txBox="1"/>
          <p:nvPr/>
        </p:nvSpPr>
        <p:spPr>
          <a:xfrm>
            <a:off x="5806379" y="1020198"/>
            <a:ext cx="2445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Example: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23C476-02F7-AAB6-E8F1-4AD1F0344569}"/>
              </a:ext>
            </a:extLst>
          </p:cNvPr>
          <p:cNvSpPr txBox="1"/>
          <p:nvPr/>
        </p:nvSpPr>
        <p:spPr>
          <a:xfrm>
            <a:off x="2282222" y="2384722"/>
            <a:ext cx="4579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AST = Abstract Syntax Tree</a:t>
            </a:r>
          </a:p>
        </p:txBody>
      </p:sp>
    </p:spTree>
    <p:extLst>
      <p:ext uri="{BB962C8B-B14F-4D97-AF65-F5344CB8AC3E}">
        <p14:creationId xmlns:p14="http://schemas.microsoft.com/office/powerpoint/2010/main" val="341958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D7893-CFD8-D693-B8E6-07693FFA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F76398-4D13-0C99-D9FD-B1C98164A9F6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FFCEA8-7170-4BD6-833F-51C4B1F5F25D}"/>
              </a:ext>
            </a:extLst>
          </p:cNvPr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ECD (Execution Context Delta)</a:t>
            </a:r>
            <a:endParaRPr lang="en-US" sz="2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71494CB-4136-4762-CE63-1F299BEFEC0E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CSP-Guard  |  SR University, Warangal  |  2026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4BE8063-9F3D-C459-5775-E00EC5898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379" y="1335294"/>
            <a:ext cx="3102953" cy="338882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4B85340-6915-B8F9-57EE-06A56E4BC692}"/>
              </a:ext>
            </a:extLst>
          </p:cNvPr>
          <p:cNvSpPr txBox="1"/>
          <p:nvPr/>
        </p:nvSpPr>
        <p:spPr>
          <a:xfrm>
            <a:off x="5806379" y="1020198"/>
            <a:ext cx="2445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Example: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151445-A4BA-16BC-F053-A5E172D704F9}"/>
              </a:ext>
            </a:extLst>
          </p:cNvPr>
          <p:cNvSpPr txBox="1"/>
          <p:nvPr/>
        </p:nvSpPr>
        <p:spPr>
          <a:xfrm>
            <a:off x="151141" y="1150628"/>
            <a:ext cx="4579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AST = Abstract Syntax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F23A1B-E0A7-549E-FE90-2C1CFB178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66" y="1531522"/>
            <a:ext cx="3253018" cy="16516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83FA8F-FF41-343E-002A-1BFE4AAE9A1D}"/>
              </a:ext>
            </a:extLst>
          </p:cNvPr>
          <p:cNvSpPr txBox="1"/>
          <p:nvPr/>
        </p:nvSpPr>
        <p:spPr>
          <a:xfrm>
            <a:off x="168566" y="3326142"/>
            <a:ext cx="5697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Token tells: what elements are present in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A21CA-0819-8808-6B67-BD7AEEF1B6F5}"/>
              </a:ext>
            </a:extLst>
          </p:cNvPr>
          <p:cNvSpPr txBox="1"/>
          <p:nvPr/>
        </p:nvSpPr>
        <p:spPr>
          <a:xfrm>
            <a:off x="168566" y="3706044"/>
            <a:ext cx="4579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Data Flow tells: how data moves and changes</a:t>
            </a:r>
          </a:p>
        </p:txBody>
      </p:sp>
    </p:spTree>
    <p:extLst>
      <p:ext uri="{BB962C8B-B14F-4D97-AF65-F5344CB8AC3E}">
        <p14:creationId xmlns:p14="http://schemas.microsoft.com/office/powerpoint/2010/main" val="3803151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Stakeholders — For Whom the Project is Done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👨‍💻  Software Developers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463040"/>
            <a:ext cx="257860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Receive real-time IDE alerts when pasting code from a different context, preventing the accidental introduction of security vulnerabilities.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788920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2412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🔒  Security Engineers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463040"/>
            <a:ext cx="257860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Gain automated visibility into copy-paste-induced risks across large codebases — augmenting manual code review with AI-driven risk scores.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60120"/>
            <a:ext cx="2788920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2412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DevOps / CI-CD Teams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81928" y="1463040"/>
            <a:ext cx="257860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Integrate CSP-Guard into pipelines to block or flag high-risk code automatically on every commit, ensuring no vulnerable code reaches production.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80360"/>
            <a:ext cx="2788920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443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Enterprise Compliance Officers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3383280"/>
            <a:ext cx="257860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 audit reports generated by CSP-Guard to satisfy regulatory requirements (GDPR, SOC 2, PCI-DSS) around secure coding practices.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788920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9443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🎓  Academic Researchers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383280"/>
            <a:ext cx="257860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Leverage the ECD model and dataset as a research artifact for further study in code clone analysis, AI-driven security, and static analysis.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278892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880360"/>
            <a:ext cx="2788920" cy="438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9443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🏛️  SR University / IDP Faculty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81928" y="3383280"/>
            <a:ext cx="257860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Evaluate the project as an Innovation Disclosure and student patent filing — contributing to university IP and R&amp;D outcomes.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CSP-Guard  |  SR University, Warangal  |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Programming Languages, Tools &amp; Software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3931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14984"/>
            <a:ext cx="3886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Programming Languages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3931920" cy="1280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HTML</a:t>
            </a: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CSS</a:t>
            </a:r>
            <a:br>
              <a:rPr lang="en-US" sz="1050" dirty="0">
                <a:solidFill>
                  <a:srgbClr val="0D1B2A"/>
                </a:solidFill>
              </a:rPr>
            </a:br>
            <a:r>
              <a:rPr lang="en-US" sz="1050" dirty="0">
                <a:solidFill>
                  <a:srgbClr val="0D1B2A"/>
                </a:solidFill>
              </a:rPr>
              <a:t>JS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160520" cy="3931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14984"/>
            <a:ext cx="3886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API 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41605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953512"/>
            <a:ext cx="4160520" cy="393192"/>
          </a:xfrm>
          <a:prstGeom prst="rect">
            <a:avLst/>
          </a:prstGeom>
          <a:solidFill>
            <a:srgbClr val="3D405B"/>
          </a:solidFill>
          <a:ln w="12700">
            <a:solidFill>
              <a:srgbClr val="3D40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08376"/>
            <a:ext cx="38862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Development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3931920" cy="1280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VS Code  —  IDE integration &amp; plugin development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Git / GitHub  —  Version control &amp; collaboration</a:t>
            </a:r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CSP-Guard  |  SR University, Warangal  |  2026</a:t>
            </a:r>
            <a:endParaRPr lang="en-US" sz="9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0323E7F2-08B0-A881-688C-E877EF6DA5D4}"/>
              </a:ext>
            </a:extLst>
          </p:cNvPr>
          <p:cNvSpPr/>
          <p:nvPr/>
        </p:nvSpPr>
        <p:spPr>
          <a:xfrm>
            <a:off x="4983480" y="1417828"/>
            <a:ext cx="3931920" cy="1280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</a:rPr>
              <a:t>Used </a:t>
            </a:r>
            <a:r>
              <a:rPr lang="en-US" sz="1050" dirty="0" err="1">
                <a:solidFill>
                  <a:srgbClr val="0D1B2A"/>
                </a:solidFill>
              </a:rPr>
              <a:t>Openrouter</a:t>
            </a:r>
            <a:r>
              <a:rPr lang="en-US" sz="1050" dirty="0">
                <a:solidFill>
                  <a:srgbClr val="0D1B2A"/>
                </a:solidFill>
              </a:rPr>
              <a:t> Free Api Route 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Prompts Used to Generate Code  (Part 1 of 2)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CSP-Guard  |  SR University, Warangal  |  2026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D6EB6AF-36F2-4414-D115-BCCDC165E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4" y="815878"/>
            <a:ext cx="6821497" cy="4030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Prompts Used to Generate Code  (Part 2 of 2)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CSP-Guard  |  SR University, Warangal  |  2026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6256F33-E4FD-6190-DDEC-89D1E4B0E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955" y="822960"/>
            <a:ext cx="6362935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Workflow Flowchart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Step 1  |  Cod Input &amp; AST Parsing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12140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ectoken + AST)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688336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Step 3  |  Context Extraction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25526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★)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82219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tic Risk Scoring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95604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1609344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80760" y="2176272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80760" y="2743200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80760" y="3310128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80760" y="3877056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80760" y="4443984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CSP-Guard  |  SR University, Warangal  |  2026</a:t>
            </a:r>
            <a:endParaRPr lang="en-US" sz="900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051179"/>
            <a:ext cx="5577840" cy="35299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Front-End View — CSP-Guard Web Application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" y="1947672"/>
            <a:ext cx="39319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00600" y="1975612"/>
            <a:ext cx="39319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08736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CSP-Guard  |  SR University, Warangal  |  2026</a:t>
            </a:r>
            <a:endParaRPr lang="en-US" sz="9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10" y="953135"/>
            <a:ext cx="3899535" cy="14630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190" y="963930"/>
            <a:ext cx="3898900" cy="14306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5" y="2842260"/>
            <a:ext cx="3808730" cy="15436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190" y="2849245"/>
            <a:ext cx="3832225" cy="154305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12775" y="2434590"/>
            <a:ext cx="338201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/>
              <a:t>medium risk Shows: Taint +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4799965" y="2411095"/>
            <a:ext cx="4282440" cy="584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/>
              <a:t>                  high risk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57200" y="4455795"/>
            <a:ext cx="4290060" cy="332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/>
              <a:t>                 unsafe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274310" y="4379595"/>
            <a:ext cx="2613660" cy="38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/>
              <a:t>               safe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09  Proof of Prompts Generating Code  (Screenshots)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47775" y="1618615"/>
            <a:ext cx="3977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P4 → ECD Computation 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3977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246120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575304"/>
            <a:ext cx="3977640" cy="10607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2926080"/>
            <a:ext cx="3977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* Actual screenshots from Claude / ChatGPT sessions — placeholder representations shown above.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CSP-Guard  |  SR University, Warangal  |  2026</a:t>
            </a:r>
            <a:endParaRPr lang="en-US" sz="9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55" y="996950"/>
            <a:ext cx="8697595" cy="35775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 References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572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96696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[1]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978408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Kamiya, T., Kusumoto, S., &amp; Inoue, K. (2002). CCFinder: A multilinguistic token-based code clone detection system. IEEE Transactions on Software Engineering, 28(7), 654–670.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353312"/>
            <a:ext cx="4572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89888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[2]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371600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Li, Z., et al. (2005). CP-Miner: A tool for finding copy-paste and related bugs in operating system code. OSDI 2004, USENIX.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46504"/>
            <a:ext cx="4572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83080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[3]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764792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Sajnani, H., et al. (2016). SourcererCC: Scaling code clone detection to big code. ICSE 2016, IEEE.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139696"/>
            <a:ext cx="4572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76272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[4]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157984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D1B2A"/>
                </a:solidFill>
              </a:rPr>
              <a:t>Clone Detection Using Abstract Syntax Trees, ICSM 1998.</a:t>
            </a:r>
          </a:p>
          <a:p>
            <a:r>
              <a:rPr lang="en-US" sz="950" dirty="0">
                <a:solidFill>
                  <a:srgbClr val="0D1B2A"/>
                </a:solidFill>
              </a:rPr>
              <a:t>https://doi.org/10.1109/ICSM.1998.738528</a:t>
            </a:r>
          </a:p>
        </p:txBody>
      </p:sp>
      <p:sp>
        <p:nvSpPr>
          <p:cNvPr id="16" name="Shape 14"/>
          <p:cNvSpPr/>
          <p:nvPr/>
        </p:nvSpPr>
        <p:spPr>
          <a:xfrm>
            <a:off x="274320" y="2532888"/>
            <a:ext cx="4572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69464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[5]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551176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D1B2A"/>
                </a:solidFill>
              </a:rPr>
              <a:t>Common Weakness Enumeration (CWE), especially CWE-79, CWE-89, CWE-94.</a:t>
            </a:r>
          </a:p>
          <a:p>
            <a:r>
              <a:rPr lang="en-US" sz="950" dirty="0">
                <a:solidFill>
                  <a:srgbClr val="0D1B2A"/>
                </a:solidFill>
              </a:rPr>
              <a:t>https://cwe.mitre.org/</a:t>
            </a:r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572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62656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[6]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2944368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D1B2A"/>
                </a:solidFill>
              </a:rPr>
              <a:t>The Program Dependence Graph and Its Use in Optimization, ACM TOPLAS, 1987.</a:t>
            </a:r>
          </a:p>
          <a:p>
            <a:r>
              <a:rPr lang="en-US" sz="950" dirty="0">
                <a:solidFill>
                  <a:srgbClr val="0D1B2A"/>
                </a:solidFill>
              </a:rPr>
              <a:t>https://doi.org/10.1145/24039.24041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319272"/>
            <a:ext cx="4572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355848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[7]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337560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0D1B2A"/>
                </a:solidFill>
              </a:rPr>
              <a:t>https://openrouter.ai/docs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712464"/>
            <a:ext cx="4572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49040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[8]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3730752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OWASP Top 10 (2023). Open Web Application Security Project — Top 10 Vulnerabilities. https://owasp.org/Top10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105656"/>
            <a:ext cx="457200" cy="3200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142232"/>
            <a:ext cx="4572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[9]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4123944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4517136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CSP-Guard</a:t>
            </a:r>
            <a:endParaRPr lang="en-US" sz="900" dirty="0"/>
          </a:p>
        </p:txBody>
      </p:sp>
      <p:sp>
        <p:nvSpPr>
          <p:cNvPr id="37" name="Text 25">
            <a:extLst>
              <a:ext uri="{FF2B5EF4-FFF2-40B4-BE49-F238E27FC236}">
                <a16:creationId xmlns:a16="http://schemas.microsoft.com/office/drawing/2014/main" id="{5D91C695-85F2-739E-FAB7-28F0D00C61C4}"/>
              </a:ext>
            </a:extLst>
          </p:cNvPr>
          <p:cNvSpPr/>
          <p:nvPr/>
        </p:nvSpPr>
        <p:spPr>
          <a:xfrm>
            <a:off x="822960" y="4091940"/>
            <a:ext cx="8046720" cy="56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50" dirty="0"/>
              <a:t>Fetch API and Web Storage API (for frontend-only architecture).</a:t>
            </a:r>
          </a:p>
          <a:p>
            <a:r>
              <a:rPr lang="en-US" sz="950" dirty="0"/>
              <a:t>https://developer.mozilla.org/en-US/docs/Web/API/Fetch_API</a:t>
            </a:r>
          </a:p>
          <a:p>
            <a:r>
              <a:rPr lang="en-US" sz="950" dirty="0"/>
              <a:t>https://developer.mozilla.org/en-US/docs/Web/API/Web_Storage_API</a:t>
            </a:r>
          </a:p>
          <a:p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1083</Words>
  <Application>Microsoft Office PowerPoint</Application>
  <PresentationFormat>On-screen Show (16:9)</PresentationFormat>
  <Paragraphs>143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CSP-Guard Project Presentation</dc:title>
  <dc:subject>PptxGenJS Presentation</dc:subject>
  <dc:creator>PptxGenJS</dc:creator>
  <cp:lastModifiedBy>suryateja keerthi</cp:lastModifiedBy>
  <cp:revision>12</cp:revision>
  <dcterms:created xsi:type="dcterms:W3CDTF">2026-04-17T13:39:48Z</dcterms:created>
  <dcterms:modified xsi:type="dcterms:W3CDTF">2026-04-18T04:24:26Z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1033-12.1.25867.25867</vt:lpwstr>
  </property>
  <property fmtid="{D5CDD505-2E9C-101B-9397-08002B2CF9AE}" pid="3" name="ICV">
    <vt:lpwstr>F961544998D006E02438E269F57D4EA2_43</vt:lpwstr>
  </property>
</Properties>
</file>